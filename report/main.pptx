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5" r:id="rId21"/>
    <p:sldId id="281" r:id="rId22"/>
    <p:sldId id="277" r:id="rId23"/>
    <p:sldId id="282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AB5"/>
    <a:srgbClr val="5762C5"/>
    <a:srgbClr val="2A4C89"/>
    <a:srgbClr val="606CDA"/>
    <a:srgbClr val="6774E8"/>
    <a:srgbClr val="3A4185"/>
    <a:srgbClr val="5661C3"/>
    <a:srgbClr val="000000"/>
    <a:srgbClr val="6874E8"/>
    <a:srgbClr val="3A4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06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2614-3D4A-47F8-0AC0-228E40D6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E72B5-CBB7-8216-DCAF-1F0275D51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407D6-0724-94EF-DF1A-3D84AF20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4ECA-02F4-DABC-EB8F-BF60B4FAA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51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1DFA-5248-212B-1E01-3F8C0D4C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C3AED-33BC-21B3-6679-690800F17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45795-5728-C899-FB7B-43AA720B6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7061B-AD38-7CE6-3710-B731B9BDC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40A0-21A1-D387-E710-BC9E16C8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812B8-DD55-0C6A-CE3F-028A52A6F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F0C73-5CFC-D3BE-5E44-7AEF374A1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C080-98DE-097E-1C2D-760730064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18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AF0FEA-F424-17E9-9505-AEA60F48B8B5}"/>
              </a:ext>
            </a:extLst>
          </p:cNvPr>
          <p:cNvSpPr/>
          <p:nvPr/>
        </p:nvSpPr>
        <p:spPr>
          <a:xfrm>
            <a:off x="413100" y="2839928"/>
            <a:ext cx="5082444" cy="1097280"/>
          </a:xfrm>
          <a:prstGeom prst="roundRect">
            <a:avLst/>
          </a:prstGeom>
          <a:solidFill>
            <a:srgbClr val="687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НИУ ВШЭ
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Конкурс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
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№7</a:t>
            </a:r>
            <a:endParaRPr lang="en-001" dirty="0"/>
          </a:p>
        </p:txBody>
      </p:sp>
      <p:sp>
        <p:nvSpPr>
          <p:cNvPr id="4" name="Text 0"/>
          <p:cNvSpPr txBox="1"/>
          <p:nvPr/>
        </p:nvSpPr>
        <p:spPr>
          <a:xfrm>
            <a:off x="413100" y="1431600"/>
            <a:ext cx="8317800" cy="9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6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«Кэширование DNS на базе Unbound и Redis» — ключевые темы и подходы
</a:t>
            </a:r>
            <a:endParaRPr lang="en-US" sz="2965" dirty="0"/>
          </a:p>
        </p:txBody>
      </p:sp>
      <p:sp>
        <p:nvSpPr>
          <p:cNvPr id="6" name="Text 2"/>
          <p:cNvSpPr txBox="1"/>
          <p:nvPr/>
        </p:nvSpPr>
        <p:spPr>
          <a:xfrm>
            <a:off x="413100" y="4079169"/>
            <a:ext cx="4158900" cy="742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Самойлов М.А. Магелатова В.С. Чванов А.В.
</a:t>
            </a:r>
            <a:endParaRPr lang="en-US" sz="1478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E7E6EA-1FD1-3372-8BC8-69AB7554E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276" y="320040"/>
            <a:ext cx="420624" cy="4413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367" y="1078226"/>
            <a:ext cx="3906600" cy="34602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9958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1"/>
          <p:cNvSpPr txBox="1"/>
          <p:nvPr/>
        </p:nvSpPr>
        <p:spPr>
          <a:xfrm>
            <a:off x="413147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и актуальность кэширования DNS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700373" y="2551792"/>
            <a:ext cx="3920100" cy="168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(Domain Name System)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основа интернета, критична скорость и точность ответов. Кэширование снижает задержки и нагрузку, но TTL ограничивает срок хранения. Требуются методы хранения с произвольным сроком для повышения устойчивости и независимости от внешних серверов.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5591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413146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717524" y="1967300"/>
            <a:ext cx="2210700" cy="20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DNS-</a:t>
            </a:r>
            <a:r>
              <a:rPr lang="ru-RU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резолвер</a:t>
            </a:r>
            <a:r>
              <a:rPr lang="ru-RU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возможностью встроенного кеширования и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DNSSEC</a:t>
            </a:r>
            <a:endParaRPr lang="en-001" sz="1400" dirty="0"/>
          </a:p>
          <a:p>
            <a:pPr marL="0" indent="0" algn="l">
              <a:lnSpc>
                <a:spcPct val="100000"/>
              </a:lnSpc>
              <a:buNone/>
            </a:pPr>
            <a:endParaRPr lang="ru-RU" sz="16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3526350" y="1967299"/>
            <a:ext cx="2210700" cy="169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ru-RU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кэш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DNS-</a:t>
            </a:r>
            <a:r>
              <a:rPr lang="ru-RU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ответов</a:t>
            </a:r>
            <a:endParaRPr lang="en-001" sz="1400" dirty="0"/>
          </a:p>
          <a:p>
            <a:pPr marL="0" indent="0" algn="l">
              <a:lnSpc>
                <a:spcPct val="100000"/>
              </a:lnSpc>
              <a:buNone/>
            </a:pPr>
            <a:endParaRPr lang="ru-RU" sz="16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6335176" y="1967299"/>
            <a:ext cx="2195824" cy="169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PythonMod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ru-RU" sz="1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 </a:t>
            </a:r>
            <a:r>
              <a:rPr lang="ru-RU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81740" y="3925584"/>
            <a:ext cx="3706500" cy="5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демонстрирует ключевые параметры Unbound по сравнению с основными конкурентами. 
</a:t>
            </a:r>
            <a:endParaRPr lang="en-US" sz="1200" dirty="0"/>
          </a:p>
        </p:txBody>
      </p:sp>
      <p:sp>
        <p:nvSpPr>
          <p:cNvPr id="8" name="Text 1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9" name="Text 2"/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 Unbound и конкурентов
</a:t>
            </a:r>
            <a:endParaRPr lang="en-US" sz="2400" dirty="0"/>
          </a:p>
        </p:txBody>
      </p:sp>
      <p:sp>
        <p:nvSpPr>
          <p:cNvPr id="10" name="Text 3"/>
          <p:cNvSpPr txBox="1"/>
          <p:nvPr/>
        </p:nvSpPr>
        <p:spPr>
          <a:xfrm>
            <a:off x="4680860" y="3954352"/>
            <a:ext cx="3881400" cy="54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 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выбран как </a:t>
            </a:r>
            <a:r>
              <a:rPr lang="ru-RU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резолвер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гибкими механизмами кэширования, поддержкой 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DNSSEC 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возможностью расширения через </a:t>
            </a:r>
            <a:r>
              <a:rPr lang="en-US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PythonMod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интеграции с 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Redis.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413146" y="3470629"/>
            <a:ext cx="8317800" cy="21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E81B23-3444-717C-78CF-BCAAF758D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036399"/>
            <a:ext cx="7632700" cy="24384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38A2B0-3276-090D-94BA-2874E125BE36}"/>
              </a:ext>
            </a:extLst>
          </p:cNvPr>
          <p:cNvCxnSpPr/>
          <p:nvPr/>
        </p:nvCxnSpPr>
        <p:spPr>
          <a:xfrm>
            <a:off x="427958" y="3782518"/>
            <a:ext cx="0" cy="886968"/>
          </a:xfrm>
          <a:prstGeom prst="line">
            <a:avLst/>
          </a:prstGeom>
          <a:ln w="2540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EDFC6CE-5964-8B5D-A9BA-6043A24BA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11" y="204538"/>
            <a:ext cx="420624" cy="4413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90625" y="4022228"/>
            <a:ext cx="3706500" cy="5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Сравнение выполнено по критериям, важным для проекта: интеграция, производительность и сложность реализации.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9" name="Text 2"/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Сравнительная таблица архитектурных вариантов интеграции с Unbound и Redis
</a:t>
            </a:r>
            <a:endParaRPr lang="en-US" sz="2400" dirty="0"/>
          </a:p>
        </p:txBody>
      </p:sp>
      <p:sp>
        <p:nvSpPr>
          <p:cNvPr id="10" name="Text 3"/>
          <p:cNvSpPr txBox="1"/>
          <p:nvPr/>
        </p:nvSpPr>
        <p:spPr>
          <a:xfrm>
            <a:off x="4671975" y="3967253"/>
            <a:ext cx="3881400" cy="54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PythonMod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выбран как оптимальный баланс между глубиной интеграции, производительностью и трудоёмкостью разработки.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491C40-810A-4F3A-5971-A2D93D84E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22719"/>
            <a:ext cx="7772400" cy="2011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376590" y="594360"/>
            <a:ext cx="2462700" cy="16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Подключение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Redis 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к </a:t>
            </a:r>
            <a:r>
              <a:rPr lang="ru-RU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резолверу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3215879" y="594360"/>
            <a:ext cx="2468700" cy="119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Redis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запущен как отдельный сервис в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Docker Compose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и доступен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резолверу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по внутренней сети.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3307229" y="3287176"/>
            <a:ext cx="4754700" cy="103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Корректность интеграции подтверждена тремя признаками:</a:t>
            </a:r>
          </a:p>
          <a:p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-cli ping 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Redis </a:t>
            </a:r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доступен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 -V 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PythonMod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включён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 </a:t>
            </a:r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загружается корректно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6092189" y="1085385"/>
            <a:ext cx="2468700" cy="138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собран с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PythonMod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позволило встроить логику работы с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обработку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запросов.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69" y="1225081"/>
            <a:ext cx="4153234" cy="265768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92" y="-368529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5160608" y="1309830"/>
            <a:ext cx="3706500" cy="5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1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</a:t>
            </a:r>
            <a:r>
              <a:rPr lang="en-US" sz="11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174" dirty="0" err="1">
                <a:solidFill>
                  <a:srgbClr val="858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dns:cache</a:t>
            </a:r>
            <a:r>
              <a:rPr lang="en-US" sz="1174" dirty="0">
                <a:solidFill>
                  <a:srgbClr val="858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:&lt;fqdn&gt;:&lt;</a:t>
            </a:r>
            <a:r>
              <a:rPr lang="en-US" sz="1174" dirty="0" err="1">
                <a:solidFill>
                  <a:srgbClr val="858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qtype</a:t>
            </a:r>
            <a:r>
              <a:rPr lang="en-US" sz="1174" dirty="0">
                <a:solidFill>
                  <a:srgbClr val="858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ru-RU" sz="1174" dirty="0">
              <a:solidFill>
                <a:srgbClr val="858D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ru-RU" sz="1174" dirty="0">
                <a:latin typeface="Arial" pitchFamily="34" charset="0"/>
                <a:cs typeface="Arial" pitchFamily="34" charset="-120"/>
              </a:rPr>
              <a:t>Значение 	</a:t>
            </a:r>
            <a:r>
              <a:rPr lang="en-US" sz="1174" dirty="0">
                <a:solidFill>
                  <a:srgbClr val="858DC0"/>
                </a:solidFill>
                <a:latin typeface="Arial" pitchFamily="34" charset="0"/>
                <a:cs typeface="Arial" pitchFamily="34" charset="-120"/>
              </a:rPr>
              <a:t>Json-</a:t>
            </a:r>
            <a:r>
              <a:rPr lang="ru-RU" sz="1174" dirty="0">
                <a:solidFill>
                  <a:srgbClr val="858DC0"/>
                </a:solidFill>
                <a:latin typeface="Arial" pitchFamily="34" charset="0"/>
                <a:cs typeface="Arial" pitchFamily="34" charset="-120"/>
              </a:rPr>
              <a:t>объект</a:t>
            </a:r>
            <a:endParaRPr lang="en-US" sz="1174" dirty="0"/>
          </a:p>
        </p:txBody>
      </p:sp>
      <p:sp>
        <p:nvSpPr>
          <p:cNvPr id="9" name="Text 1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0" name="Text 2"/>
          <p:cNvSpPr txBox="1"/>
          <p:nvPr/>
        </p:nvSpPr>
        <p:spPr>
          <a:xfrm>
            <a:off x="399869" y="352515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DNS-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ответа в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
</a:t>
            </a:r>
            <a:endParaRPr lang="en-US" sz="2400" dirty="0"/>
          </a:p>
        </p:txBody>
      </p:sp>
      <p:sp>
        <p:nvSpPr>
          <p:cNvPr id="11" name="Text 3"/>
          <p:cNvSpPr txBox="1"/>
          <p:nvPr/>
        </p:nvSpPr>
        <p:spPr>
          <a:xfrm>
            <a:off x="4830214" y="2752682"/>
            <a:ext cx="3727207" cy="54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позволяет восстановить 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ответ, разделить исходный </a:t>
            </a: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административное время хранения, а также хранить служебные метаданные.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4"/>
          <p:cNvSpPr txBox="1"/>
          <p:nvPr/>
        </p:nvSpPr>
        <p:spPr>
          <a:xfrm>
            <a:off x="4671975" y="3648629"/>
            <a:ext cx="3895800" cy="21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JSON-структура записей в Redis, эксперимент
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0C07A7-FB9A-9B5C-5209-2282752EBC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3480" y="3784239"/>
            <a:ext cx="2244540" cy="902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984B6C-7984-7B93-1A83-5479CE908D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530" y="211311"/>
            <a:ext cx="447060" cy="448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5" name="Text 1"/>
          <p:cNvSpPr txBox="1"/>
          <p:nvPr/>
        </p:nvSpPr>
        <p:spPr>
          <a:xfrm>
            <a:off x="413147" y="435769"/>
            <a:ext cx="8317800" cy="36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8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взаимодействия Unbound с Internet, PythonMod и Redis
</a:t>
            </a:r>
            <a:endParaRPr lang="en-US" sz="1985" dirty="0"/>
          </a:p>
        </p:txBody>
      </p:sp>
      <p:sp>
        <p:nvSpPr>
          <p:cNvPr id="6" name="Text 2"/>
          <p:cNvSpPr txBox="1"/>
          <p:nvPr/>
        </p:nvSpPr>
        <p:spPr>
          <a:xfrm>
            <a:off x="413147" y="845820"/>
            <a:ext cx="8133900" cy="26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Взаимосвязи компонентов для реализации кэширования и расширенной обработки DNS-запросов
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519527-D650-AB2F-F9EC-0F51C7AD4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037" y="1113420"/>
            <a:ext cx="6392119" cy="3567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47" y="1292983"/>
            <a:ext cx="8317800" cy="318229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5" name="Text 1"/>
          <p:cNvSpPr txBox="1"/>
          <p:nvPr/>
        </p:nvSpPr>
        <p:spPr>
          <a:xfrm>
            <a:off x="413147" y="435769"/>
            <a:ext cx="8317800" cy="36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DNS-запроса в экспериментальном стенде
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413147" y="845820"/>
            <a:ext cx="8133900" cy="26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шагов для обработки запроса в Unbound с интеграцией Redis
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840568" y="1650150"/>
            <a:ext cx="3706500" cy="5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задают гибкость кэширования, обеспечивают взаимодействие с внешним хранилищем и настраивают обработку TTL.
</a:t>
            </a:r>
            <a:endParaRPr lang="en-US" sz="1200" dirty="0"/>
          </a:p>
        </p:txBody>
      </p:sp>
      <p:sp>
        <p:nvSpPr>
          <p:cNvPr id="9" name="Text 1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0" name="Text 2"/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параметры Unbound и Redis
</a:t>
            </a:r>
            <a:endParaRPr lang="en-US" sz="2400" dirty="0"/>
          </a:p>
        </p:txBody>
      </p:sp>
      <p:sp>
        <p:nvSpPr>
          <p:cNvPr id="11" name="Text 3"/>
          <p:cNvSpPr txBox="1"/>
          <p:nvPr/>
        </p:nvSpPr>
        <p:spPr>
          <a:xfrm>
            <a:off x="4849446" y="2731069"/>
            <a:ext cx="3697800" cy="54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Конфигурационные файлы Unbound и переменные окружения Docker
</a:t>
            </a:r>
            <a:endParaRPr lang="en-US" sz="1200" dirty="0"/>
          </a:p>
        </p:txBody>
      </p:sp>
      <p:sp>
        <p:nvSpPr>
          <p:cNvPr id="12" name="Text 4"/>
          <p:cNvSpPr txBox="1"/>
          <p:nvPr/>
        </p:nvSpPr>
        <p:spPr>
          <a:xfrm>
            <a:off x="4671975" y="3648629"/>
            <a:ext cx="3895800" cy="21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D1F96B-5113-37B7-3D61-E76AC6826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01" y="1402633"/>
            <a:ext cx="4407299" cy="20718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9635CC-874B-E5E8-A255-F15D690F6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8298" y="3562336"/>
            <a:ext cx="2244540" cy="9020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81929F-7D9A-4CEF-719D-C325B6793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530" y="211311"/>
            <a:ext cx="447060" cy="448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1"/>
          <p:cNvSpPr txBox="1"/>
          <p:nvPr/>
        </p:nvSpPr>
        <p:spPr>
          <a:xfrm>
            <a:off x="413146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(1.1) Методика определения источника DNS-ответа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413150" y="2176271"/>
            <a:ext cx="2341500" cy="198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Время ответа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Повторный запрос из кэша выполняется значительно быстрее.</a:t>
            </a:r>
            <a:endParaRPr lang="ru-RU" sz="14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3267413" y="2176271"/>
            <a:ext cx="2341500" cy="198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Изменение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TTL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уменьшается между запросами, если ответ выдан из кэша.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/>
          <p:cNvSpPr txBox="1"/>
          <p:nvPr/>
        </p:nvSpPr>
        <p:spPr>
          <a:xfrm>
            <a:off x="6121676" y="2176269"/>
            <a:ext cx="2341500" cy="198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Анализ трафика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tcpdump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Отсутствие внешних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запросов подтверждает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cache hit.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413147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(1.1 A)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Базовое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кэширование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yandex.ru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1095090" y="2986661"/>
            <a:ext cx="3456000" cy="12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Рекурсивное разрешение и заполнение кэша. </a:t>
            </a:r>
          </a:p>
          <a:p>
            <a:pPr>
              <a:lnSpc>
                <a:spcPct val="90000"/>
              </a:lnSpc>
            </a:pP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653 мс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4850323" y="2986661"/>
            <a:ext cx="3456000" cy="12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</a:t>
            </a:r>
            <a:r>
              <a:rPr lang="en-US" sz="1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tcpdump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Внешнего трафика нет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3397238" y="1333500"/>
            <a:ext cx="3456000" cy="1177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90000"/>
              </a:lnSpc>
            </a:pPr>
            <a:r>
              <a:rPr lang="ru-RU" sz="1600" b="1" dirty="0"/>
              <a:t>Повторный запрос через 5 секунд</a:t>
            </a:r>
          </a:p>
          <a:p>
            <a:pPr>
              <a:lnSpc>
                <a:spcPct val="90000"/>
              </a:lnSpc>
            </a:pPr>
            <a:endParaRPr lang="ru-RU" dirty="0"/>
          </a:p>
          <a:p>
            <a:pPr>
              <a:lnSpc>
                <a:spcPct val="90000"/>
              </a:lnSpc>
            </a:pPr>
            <a:r>
              <a:rPr lang="ru-RU" sz="1400" dirty="0"/>
              <a:t>Ответ из кэша. </a:t>
            </a:r>
          </a:p>
          <a:p>
            <a:pPr>
              <a:lnSpc>
                <a:spcPct val="90000"/>
              </a:lnSpc>
            </a:pPr>
            <a:r>
              <a:rPr lang="ru-RU" sz="1400" b="1" dirty="0"/>
              <a:t>2 мс, </a:t>
            </a:r>
            <a:r>
              <a:rPr lang="en-US" sz="1400" b="1" dirty="0"/>
              <a:t>TTL: 600 → 595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9CE87-E7A2-BB86-9059-E5F3CA26FD2C}"/>
              </a:ext>
            </a:extLst>
          </p:cNvPr>
          <p:cNvSpPr txBox="1"/>
          <p:nvPr/>
        </p:nvSpPr>
        <p:spPr>
          <a:xfrm>
            <a:off x="7268479" y="1472347"/>
            <a:ext cx="20756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653 мс → 2 мс</a:t>
            </a:r>
            <a:r>
              <a:rPr lang="ru-RU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TTL: 600 → 595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302DD9-9B58-01D5-6352-2194692F77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22154">
            <a:off x="5955210" y="2022927"/>
            <a:ext cx="1398456" cy="5620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sp>
        <p:nvSpPr>
          <p:cNvPr id="4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5" name="Text 1"/>
          <p:cNvSpPr txBox="1"/>
          <p:nvPr/>
        </p:nvSpPr>
        <p:spPr>
          <a:xfrm>
            <a:off x="413147" y="435769"/>
            <a:ext cx="8317800" cy="36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(1.1 Б) 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prefetch в Unbound
</a:t>
            </a: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660D36-09B2-12BD-3BAF-A688906A4985}"/>
              </a:ext>
            </a:extLst>
          </p:cNvPr>
          <p:cNvSpPr/>
          <p:nvPr/>
        </p:nvSpPr>
        <p:spPr>
          <a:xfrm>
            <a:off x="633366" y="1762106"/>
            <a:ext cx="1572768" cy="1386286"/>
          </a:xfrm>
          <a:prstGeom prst="roundRect">
            <a:avLst/>
          </a:prstGeom>
          <a:solidFill>
            <a:srgbClr val="5C6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Клиент запрашивает запись 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записи в кэше близок к истечению</a:t>
            </a:r>
            <a:endParaRPr lang="en-001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B92875-0DB4-0C8D-833F-5F9CE13C5870}"/>
              </a:ext>
            </a:extLst>
          </p:cNvPr>
          <p:cNvSpPr/>
          <p:nvPr/>
        </p:nvSpPr>
        <p:spPr>
          <a:xfrm>
            <a:off x="7010531" y="1740054"/>
            <a:ext cx="1572768" cy="1386286"/>
          </a:xfrm>
          <a:prstGeom prst="roundRect">
            <a:avLst/>
          </a:prstGeom>
          <a:solidFill>
            <a:srgbClr val="5C6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Запрос получает свежую запись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ED7DC9-43E4-5A52-B112-0279A2DE75AB}"/>
              </a:ext>
            </a:extLst>
          </p:cNvPr>
          <p:cNvSpPr/>
          <p:nvPr/>
        </p:nvSpPr>
        <p:spPr>
          <a:xfrm>
            <a:off x="2770927" y="1755248"/>
            <a:ext cx="1572768" cy="1386286"/>
          </a:xfrm>
          <a:prstGeom prst="roundRect">
            <a:avLst/>
          </a:prstGeom>
          <a:solidFill>
            <a:srgbClr val="3544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Резолвер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сразу отвечает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41340A4-8AAA-47BE-23AA-4407D016F85F}"/>
              </a:ext>
            </a:extLst>
          </p:cNvPr>
          <p:cNvSpPr/>
          <p:nvPr/>
        </p:nvSpPr>
        <p:spPr>
          <a:xfrm>
            <a:off x="4905744" y="1740054"/>
            <a:ext cx="1572768" cy="1386286"/>
          </a:xfrm>
          <a:prstGeom prst="roundRect">
            <a:avLst/>
          </a:prstGeom>
          <a:solidFill>
            <a:srgbClr val="3544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Unbound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обновляет запись во внешней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сети</a:t>
            </a:r>
            <a:endParaRPr lang="en-001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Graphic 33" descr="Arrow: Counter-clockwise curve with solid fill">
            <a:extLst>
              <a:ext uri="{FF2B5EF4-FFF2-40B4-BE49-F238E27FC236}">
                <a16:creationId xmlns:a16="http://schemas.microsoft.com/office/drawing/2014/main" id="{863CBD3E-BD83-81E5-2414-5CE2DFC88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418234" flipH="1">
            <a:off x="3855197" y="785519"/>
            <a:ext cx="1390050" cy="1390050"/>
          </a:xfrm>
          <a:prstGeom prst="rect">
            <a:avLst/>
          </a:prstGeom>
        </p:spPr>
      </p:pic>
      <p:pic>
        <p:nvPicPr>
          <p:cNvPr id="36" name="Graphic 35" descr="Arrow: Counter-clockwise curve with solid fill">
            <a:extLst>
              <a:ext uri="{FF2B5EF4-FFF2-40B4-BE49-F238E27FC236}">
                <a16:creationId xmlns:a16="http://schemas.microsoft.com/office/drawing/2014/main" id="{542221C4-8F6B-C4D9-4538-450325808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205872">
            <a:off x="5922265" y="2712289"/>
            <a:ext cx="1371600" cy="1371600"/>
          </a:xfrm>
          <a:prstGeom prst="rect">
            <a:avLst/>
          </a:prstGeom>
        </p:spPr>
      </p:pic>
      <p:pic>
        <p:nvPicPr>
          <p:cNvPr id="37" name="Graphic 36" descr="Arrow: Counter-clockwise curve with solid fill">
            <a:extLst>
              <a:ext uri="{FF2B5EF4-FFF2-40B4-BE49-F238E27FC236}">
                <a16:creationId xmlns:a16="http://schemas.microsoft.com/office/drawing/2014/main" id="{03042C1C-80B1-5546-A361-F56B3888D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205872">
            <a:off x="1668729" y="2712289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94D640-8132-43EE-579D-FCA40CBE0D40}"/>
              </a:ext>
            </a:extLst>
          </p:cNvPr>
          <p:cNvSpPr/>
          <p:nvPr/>
        </p:nvSpPr>
        <p:spPr>
          <a:xfrm>
            <a:off x="4691051" y="1900546"/>
            <a:ext cx="4039981" cy="2911930"/>
          </a:xfrm>
          <a:prstGeom prst="roundRect">
            <a:avLst/>
          </a:prstGeom>
          <a:solidFill>
            <a:srgbClr val="8992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cache-min-</a:t>
            </a:r>
            <a:r>
              <a:rPr lang="en-US" i="1" dirty="0" err="1"/>
              <a:t>ttl</a:t>
            </a:r>
            <a:r>
              <a:rPr lang="en-US" i="1" dirty="0"/>
              <a:t> = 600</a:t>
            </a:r>
          </a:p>
          <a:p>
            <a:endParaRPr lang="en-US" i="1" dirty="0"/>
          </a:p>
          <a:p>
            <a:r>
              <a:rPr lang="en-US" dirty="0"/>
              <a:t>1-</a:t>
            </a:r>
            <a:r>
              <a:rPr lang="ru-RU" dirty="0"/>
              <a:t>й запрос: </a:t>
            </a:r>
            <a:r>
              <a:rPr lang="ru-RU" b="1" dirty="0"/>
              <a:t>1625 мс</a:t>
            </a:r>
            <a:endParaRPr lang="ru-RU" dirty="0"/>
          </a:p>
          <a:p>
            <a:r>
              <a:rPr lang="ru-RU" dirty="0"/>
              <a:t>ожидание: </a:t>
            </a:r>
            <a:r>
              <a:rPr lang="ru-RU" b="1" dirty="0"/>
              <a:t>400 с</a:t>
            </a:r>
            <a:endParaRPr lang="en-US" b="1" dirty="0"/>
          </a:p>
          <a:p>
            <a:endParaRPr lang="ru-RU" dirty="0"/>
          </a:p>
          <a:p>
            <a:r>
              <a:rPr lang="ru-RU" dirty="0"/>
              <a:t>2-й запрос: </a:t>
            </a:r>
            <a:r>
              <a:rPr lang="ru-RU" b="1" dirty="0"/>
              <a:t>1 мс</a:t>
            </a:r>
            <a:endParaRPr lang="ru-RU" dirty="0"/>
          </a:p>
          <a:p>
            <a:r>
              <a:rPr lang="ru-RU" b="1" dirty="0"/>
              <a:t>Ответ выдан из кэша</a:t>
            </a:r>
            <a:endParaRPr lang="ru-RU" dirty="0"/>
          </a:p>
          <a:p>
            <a:pPr algn="ctr"/>
            <a:endParaRPr lang="en-001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7461D-5B43-708A-6B5F-59823A57EC63}"/>
              </a:ext>
            </a:extLst>
          </p:cNvPr>
          <p:cNvSpPr/>
          <p:nvPr/>
        </p:nvSpPr>
        <p:spPr>
          <a:xfrm>
            <a:off x="412970" y="1900546"/>
            <a:ext cx="4039981" cy="2911930"/>
          </a:xfrm>
          <a:prstGeom prst="roundRect">
            <a:avLst/>
          </a:prstGeom>
          <a:solidFill>
            <a:srgbClr val="5B69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cache-min-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ttl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й запрос: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1691 мс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ожидание: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400 с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2-й запрос: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1690 мс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Рекурсия выполняется заново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001" dirty="0"/>
          </a:p>
        </p:txBody>
      </p:sp>
      <p:sp>
        <p:nvSpPr>
          <p:cNvPr id="6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7" name="Text 1"/>
          <p:cNvSpPr txBox="1"/>
          <p:nvPr/>
        </p:nvSpPr>
        <p:spPr>
          <a:xfrm>
            <a:off x="412970" y="281524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(1.1 В) 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</a:t>
            </a: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cache-min-</a:t>
            </a:r>
            <a:r>
              <a:rPr lang="en-US" sz="2400" b="1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кеширование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E75AE0-7574-2A33-C667-87F416D6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00" y="886324"/>
            <a:ext cx="2496139" cy="807574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82D575-BCC6-4B2A-9B94-E594EBAE962F}"/>
              </a:ext>
            </a:extLst>
          </p:cNvPr>
          <p:cNvSpPr/>
          <p:nvPr/>
        </p:nvSpPr>
        <p:spPr>
          <a:xfrm>
            <a:off x="7075705" y="699780"/>
            <a:ext cx="1655064" cy="7863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samokat.ru</a:t>
            </a:r>
          </a:p>
          <a:p>
            <a:pPr algn="ctr"/>
            <a:r>
              <a:rPr lang="en-001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TTL = 300s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EA30E6-E456-C4E0-C23C-4DF9D4CF6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356" y="1300706"/>
            <a:ext cx="1097442" cy="4410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12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81740" y="3925584"/>
            <a:ext cx="3706500" cy="5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8" name="Text 1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9" name="Text 2"/>
          <p:cNvSpPr txBox="1"/>
          <p:nvPr/>
        </p:nvSpPr>
        <p:spPr>
          <a:xfrm>
            <a:off x="413147" y="256414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(1.1 Г) 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Вытеснение записей из кеша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3C30D8-CDBE-BB01-E7AE-6137C1CE6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478" y="1904112"/>
            <a:ext cx="5631037" cy="27657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B9CFA2-8A29-61A0-FF6F-7AB7CE2AA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8773" y="795655"/>
            <a:ext cx="4798933" cy="6439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  <p:sp>
        <p:nvSpPr>
          <p:cNvPr id="7" name="Text 1"/>
          <p:cNvSpPr txBox="1"/>
          <p:nvPr/>
        </p:nvSpPr>
        <p:spPr>
          <a:xfrm>
            <a:off x="413147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(1.2 А) Подключение Redis к резолверу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821632" y="2986661"/>
            <a:ext cx="4780336" cy="12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3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и запуск контейнеров
</a:t>
            </a:r>
            <a:r>
              <a:rPr lang="en-US" sz="83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67" dirty="0">
                <a:solidFill>
                  <a:srgbClr val="344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docker </a:t>
            </a:r>
            <a:r>
              <a:rPr lang="en-US" sz="967" dirty="0">
                <a:solidFill>
                  <a:srgbClr val="0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up -d--build
</a:t>
            </a:r>
            <a:r>
              <a:rPr lang="en-US" sz="967" dirty="0">
                <a:solidFill>
                  <a:srgbClr val="344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docker </a:t>
            </a:r>
            <a:r>
              <a:rPr lang="en-US" sz="967" dirty="0">
                <a:solidFill>
                  <a:srgbClr val="0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logs unbound
</a:t>
            </a:r>
            <a:r>
              <a:rPr lang="en-US" sz="967" dirty="0">
                <a:solidFill>
                  <a:srgbClr val="344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docker </a:t>
            </a:r>
            <a:r>
              <a:rPr lang="en-US" sz="967" dirty="0">
                <a:solidFill>
                  <a:srgbClr val="0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-it dns-unbound /usr/local/sbin/unbound -V | grep -i python
</a:t>
            </a:r>
            <a:r>
              <a:rPr lang="en-US" sz="967" dirty="0">
                <a:solidFill>
                  <a:srgbClr val="344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docker </a:t>
            </a:r>
            <a:r>
              <a:rPr lang="en-US" sz="967" dirty="0">
                <a:solidFill>
                  <a:srgbClr val="0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-it dns-redis redis-cli ping
</a:t>
            </a:r>
            <a:endParaRPr lang="en-US" sz="1236" dirty="0"/>
          </a:p>
        </p:txBody>
      </p:sp>
      <p:sp>
        <p:nvSpPr>
          <p:cNvPr id="9" name="Text 3"/>
          <p:cNvSpPr txBox="1"/>
          <p:nvPr/>
        </p:nvSpPr>
        <p:spPr>
          <a:xfrm>
            <a:off x="4123780" y="1333500"/>
            <a:ext cx="3456000" cy="1177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доступности Redis
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</a:t>
            </a: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redis-cli ping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возвращает </a:t>
            </a:r>
            <a:r>
              <a:rPr lang="en-US" sz="1050" dirty="0">
                <a:solidFill>
                  <a:srgbClr val="CB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PONG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
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413147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(1.2 Б)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redis_hit</a:t>
            </a: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2400" b="1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redis_miss</a:t>
            </a: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1095090" y="2986661"/>
            <a:ext cx="3456000" cy="12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Нет записи в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 логах фиксируется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redis_miss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4850323" y="2986661"/>
            <a:ext cx="3456000" cy="12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Повторный запрос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 логах фиксируется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redis_hit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3397238" y="1333500"/>
            <a:ext cx="4018546" cy="1177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9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Запись добавляется через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fill_cache.py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Redis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получает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ответ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413147" y="435769"/>
            <a:ext cx="2462700" cy="16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(1.2 В) </a:t>
            </a:r>
            <a:r>
              <a:rPr lang="ru-RU" sz="2400" b="1" dirty="0"/>
              <a:t>Формирование </a:t>
            </a:r>
            <a:r>
              <a:rPr lang="en-US" sz="2400" b="1" dirty="0"/>
              <a:t>DNS-</a:t>
            </a:r>
            <a:r>
              <a:rPr lang="ru-RU" sz="2400" b="1" dirty="0"/>
              <a:t>ответов из </a:t>
            </a:r>
            <a:r>
              <a:rPr lang="en-US" sz="2400" b="1" dirty="0"/>
              <a:t>Redis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3215879" y="594360"/>
            <a:ext cx="2468700" cy="119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Если запись найдена в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Redis,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PythonMod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извлекает сохранённые данные и передаёт их в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Unbound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для формирования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ответа.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3307199" y="3348992"/>
            <a:ext cx="4754700" cy="103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нашей архитектуре — не только хранилище, но и полноценный источник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ответов.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6092189" y="1157553"/>
            <a:ext cx="2468700" cy="131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redis_hit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 формируется напрямую из внешнего кэша, без обращения к корневым,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TLD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авторитетным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серверам.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7CCBE-0D57-7C2E-89D8-170199D2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36939F-25E0-074A-76B1-B0EB50E5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774658F-FE6B-19E7-6144-FE9F2835A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4008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02F26F81-CA8C-EF1F-FDF4-370E0DC12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047" y="1588421"/>
            <a:ext cx="378000" cy="3360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4D7C522E-DC40-6ADF-1BD9-9C401FE6F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597" y="3182561"/>
            <a:ext cx="378000" cy="3024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9DA2B286-BBBD-DE49-C19C-EFF9D694A8AB}"/>
              </a:ext>
            </a:extLst>
          </p:cNvPr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59B2676-E967-5535-5E62-1A5BF21758B9}"/>
              </a:ext>
            </a:extLst>
          </p:cNvPr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(1.2 Г)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Разделение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ответа и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хранения</a:t>
            </a:r>
            <a:r>
              <a:rPr 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5B2FAF0-3098-CB1F-F54A-3DC9339D752A}"/>
              </a:ext>
            </a:extLst>
          </p:cNvPr>
          <p:cNvSpPr/>
          <p:nvPr/>
        </p:nvSpPr>
        <p:spPr>
          <a:xfrm>
            <a:off x="3250692" y="983621"/>
            <a:ext cx="2642616" cy="604800"/>
          </a:xfrm>
          <a:prstGeom prst="roundRect">
            <a:avLst/>
          </a:prstGeom>
          <a:solidFill>
            <a:srgbClr val="D9D9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клиента: 	60 с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TTL </a:t>
            </a:r>
            <a:r>
              <a:rPr lang="ru-R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Redis: </a:t>
            </a:r>
            <a:r>
              <a:rPr lang="ru-R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86400 </a:t>
            </a:r>
            <a:r>
              <a:rPr lang="ru-R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endParaRPr lang="en-001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E5333B-DAE4-4F95-2243-8C666638250B}"/>
              </a:ext>
            </a:extLst>
          </p:cNvPr>
          <p:cNvSpPr/>
          <p:nvPr/>
        </p:nvSpPr>
        <p:spPr>
          <a:xfrm>
            <a:off x="331062" y="1756415"/>
            <a:ext cx="2642616" cy="2641843"/>
          </a:xfrm>
          <a:prstGeom prst="roundRect">
            <a:avLst/>
          </a:prstGeom>
          <a:solidFill>
            <a:srgbClr val="677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Сохранение в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fill_cache.py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сохранил запись с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TTL =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86400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EC44AF-1B76-2EBC-6C77-8A392A90FF7F}"/>
              </a:ext>
            </a:extLst>
          </p:cNvPr>
          <p:cNvSpPr/>
          <p:nvPr/>
        </p:nvSpPr>
        <p:spPr>
          <a:xfrm>
            <a:off x="6170322" y="1756415"/>
            <a:ext cx="2642616" cy="2641843"/>
          </a:xfrm>
          <a:prstGeom prst="roundRect">
            <a:avLst/>
          </a:prstGeom>
          <a:solidFill>
            <a:srgbClr val="6774E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Проверка клиентского ответа</a:t>
            </a:r>
          </a:p>
          <a:p>
            <a:pPr algn="ctr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dig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показывает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TTL = 60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B22C504-71C6-DED0-B115-601228C2B946}"/>
              </a:ext>
            </a:extLst>
          </p:cNvPr>
          <p:cNvSpPr/>
          <p:nvPr/>
        </p:nvSpPr>
        <p:spPr>
          <a:xfrm>
            <a:off x="3250692" y="1724791"/>
            <a:ext cx="2642616" cy="2641843"/>
          </a:xfrm>
          <a:prstGeom prst="roundRect">
            <a:avLst/>
          </a:prstGeom>
          <a:solidFill>
            <a:srgbClr val="6774E8">
              <a:alpha val="8953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Проверка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-cli TTL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вернул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86366 с</a:t>
            </a:r>
            <a:endParaRPr lang="en-001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A7478FE3-7F54-D13A-C5A0-A46D2CF5B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733" y="1970606"/>
            <a:ext cx="378000" cy="30240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FA43279F-B132-9E6A-015B-C8A0C29F7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870" y="1924421"/>
            <a:ext cx="378000" cy="336000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3F9695D7-18E1-3B57-138E-F0D7F2C17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222" y="1922565"/>
            <a:ext cx="33075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00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" dirty="0"/>
          </a:p>
        </p:txBody>
      </p:sp>
      <p:sp>
        <p:nvSpPr>
          <p:cNvPr id="8" name="Text 1"/>
          <p:cNvSpPr txBox="1"/>
          <p:nvPr/>
        </p:nvSpPr>
        <p:spPr>
          <a:xfrm>
            <a:off x="413146" y="258224"/>
            <a:ext cx="849311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2400" b="1" dirty="0"/>
              <a:t>Выбор </a:t>
            </a:r>
            <a:r>
              <a:rPr lang="en-US" sz="2400" b="1" dirty="0"/>
              <a:t>DNSSEC-</a:t>
            </a:r>
            <a:r>
              <a:rPr lang="ru-RU" sz="2400" b="1" dirty="0"/>
              <a:t>подписанной зоны и её локальное размещение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200" dirty="0"/>
          </a:p>
        </p:txBody>
      </p:sp>
      <p:sp>
        <p:nvSpPr>
          <p:cNvPr id="9" name="Text 2"/>
          <p:cNvSpPr txBox="1"/>
          <p:nvPr/>
        </p:nvSpPr>
        <p:spPr>
          <a:xfrm>
            <a:off x="598125" y="1967300"/>
            <a:ext cx="2330100" cy="169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Выбрана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DNSSEC-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подписанная зона </a:t>
            </a:r>
          </a:p>
          <a:p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эксперимента выбрана зона с поддержкой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DNSSEC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размещена локально на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резолвере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3421035" y="1967300"/>
            <a:ext cx="2330100" cy="169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Резолвер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настроен на локальную зону</a:t>
            </a:r>
          </a:p>
          <a:p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Запросы обрабатываются локально, без обращения к авторитетным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серверам.</a:t>
            </a:r>
          </a:p>
          <a:p>
            <a:b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6200900" y="1967300"/>
            <a:ext cx="2330100" cy="169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Локальный источник ответа подтверждён</a:t>
            </a:r>
          </a:p>
          <a:p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Трассировка и проверки показали, что ответы выдаются из локальной базы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резолвера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74A3F-492A-BF76-F72D-047FCE50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F6B346-E4B9-9567-8282-A382267E7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AD809F9-13EA-3FE1-ACF1-EB56EA27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5F4B081-DE8F-C97E-4472-34BFC112B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47" y="1567421"/>
            <a:ext cx="378000" cy="3780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3BFB2E5B-EA10-A81F-D0E5-A1BB6F669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047" y="1567421"/>
            <a:ext cx="378000" cy="3780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A02E45C8-B682-A7A2-02FA-1FB313513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4597" y="3144761"/>
            <a:ext cx="378000" cy="37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07A69C34-7E8A-4727-C477-61F571757F5F}"/>
              </a:ext>
            </a:extLst>
          </p:cNvPr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49107AB-C8B9-9686-ECD9-9D333E395605}"/>
              </a:ext>
            </a:extLst>
          </p:cNvPr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(1.3 Б) </a:t>
            </a: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из локальной зоны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630BD9F-7A51-6D08-2C91-D61D7F54E9E6}"/>
              </a:ext>
            </a:extLst>
          </p:cNvPr>
          <p:cNvSpPr/>
          <p:nvPr/>
        </p:nvSpPr>
        <p:spPr>
          <a:xfrm>
            <a:off x="331062" y="1756415"/>
            <a:ext cx="2642616" cy="2641843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Конфигурация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local-zone: 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cloudflare.com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." static local-data: 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cloudflare.com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300 IN A 192.0.2.1"</a:t>
            </a:r>
            <a:endParaRPr lang="en-001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125AA5-BCC1-9866-253D-A914B88AFC4A}"/>
              </a:ext>
            </a:extLst>
          </p:cNvPr>
          <p:cNvSpPr/>
          <p:nvPr/>
        </p:nvSpPr>
        <p:spPr>
          <a:xfrm>
            <a:off x="6170322" y="1756415"/>
            <a:ext cx="2642616" cy="2641843"/>
          </a:xfrm>
          <a:prstGeom prst="roundRect">
            <a:avLst/>
          </a:prstGeom>
          <a:solidFill>
            <a:srgbClr val="566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Локальный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Unbound (127.0.0.1:2053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Возвращает тестовый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192.0.2.1</a:t>
            </a:r>
            <a:endParaRPr lang="en-001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BB06753-F2EC-21EF-CCC0-FBCBF15190B0}"/>
              </a:ext>
            </a:extLst>
          </p:cNvPr>
          <p:cNvSpPr/>
          <p:nvPr/>
        </p:nvSpPr>
        <p:spPr>
          <a:xfrm>
            <a:off x="3250692" y="1724791"/>
            <a:ext cx="2642616" cy="2641843"/>
          </a:xfrm>
          <a:prstGeom prst="roundRect">
            <a:avLst/>
          </a:prstGeom>
          <a:solidFill>
            <a:srgbClr val="3A41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Публичный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DNS (8.8.8.8)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Возвращает реальный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IP Cloudflare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104.16.133.229</a:t>
            </a:r>
            <a:endParaRPr lang="en-001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9A328854-45AA-3B31-724B-4F28556189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337" y="1942562"/>
            <a:ext cx="378000" cy="378000"/>
          </a:xfrm>
          <a:prstGeom prst="rect">
            <a:avLst/>
          </a:prstGeom>
        </p:spPr>
      </p:pic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9868CAAB-F83B-6B08-EE86-3A534BC53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825" y="1942562"/>
            <a:ext cx="378000" cy="378000"/>
          </a:xfrm>
          <a:prstGeom prst="rect">
            <a:avLst/>
          </a:prstGeom>
        </p:spPr>
      </p:pic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E7D03D29-3C14-4975-CDBF-5D47F308F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07" y="1942562"/>
            <a:ext cx="3780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7" name="Text 1"/>
          <p:cNvSpPr txBox="1"/>
          <p:nvPr/>
        </p:nvSpPr>
        <p:spPr>
          <a:xfrm>
            <a:off x="413146" y="435769"/>
            <a:ext cx="83178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(1.3 В)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Автоматический сбор зоны и создание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local-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zones.conf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"/>
          <p:cNvSpPr txBox="1"/>
          <p:nvPr/>
        </p:nvSpPr>
        <p:spPr>
          <a:xfrm>
            <a:off x="413150" y="2076625"/>
            <a:ext cx="2341500" cy="207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Выбрана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DNSSEC-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подписанная зона</a:t>
            </a:r>
          </a:p>
          <a:p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Для эксперимента используется зона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cloudflare.com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 3"/>
          <p:cNvSpPr txBox="1"/>
          <p:nvPr/>
        </p:nvSpPr>
        <p:spPr>
          <a:xfrm>
            <a:off x="3267413" y="2076625"/>
            <a:ext cx="2341500" cy="207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Собраны реальные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записи</a:t>
            </a:r>
          </a:p>
          <a:p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Скрипт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collect_zone.py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автоматически получает данные зоны.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/>
          <p:cNvSpPr txBox="1"/>
          <p:nvPr/>
        </p:nvSpPr>
        <p:spPr>
          <a:xfrm>
            <a:off x="6121675" y="2076625"/>
            <a:ext cx="2341500" cy="207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Создано локальное описание зоны</a:t>
            </a:r>
          </a:p>
          <a:p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На основе собранных данных формируется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local-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zones.conf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Unbound.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E3044-F035-789D-6D7B-297471BD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4A636A9-DAE5-7390-D88F-05FC2E54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1747DEC-F019-2228-8FCB-F3C09A35B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214AD31E-4BF6-BC62-9C30-E33AC2C4E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047" y="1567421"/>
            <a:ext cx="378000" cy="3780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3C83844B-B52E-C6DF-5C62-51BE80B86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47" y="3144761"/>
            <a:ext cx="378000" cy="3780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A9CB66D8-B4D8-8115-3D5A-80A218E70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671" y="3144761"/>
            <a:ext cx="330750" cy="378000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61F746D8-E632-4B0A-CD63-7262633F2A3F}"/>
              </a:ext>
            </a:extLst>
          </p:cNvPr>
          <p:cNvSpPr txBox="1"/>
          <p:nvPr/>
        </p:nvSpPr>
        <p:spPr>
          <a:xfrm>
            <a:off x="8435530" y="4762976"/>
            <a:ext cx="295500" cy="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068E550-6FD3-6E75-2D91-2C23BBAF5422}"/>
              </a:ext>
            </a:extLst>
          </p:cNvPr>
          <p:cNvSpPr txBox="1"/>
          <p:nvPr/>
        </p:nvSpPr>
        <p:spPr>
          <a:xfrm>
            <a:off x="413147" y="435769"/>
            <a:ext cx="7973700" cy="6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(1.3 Г) Подтверждение ответа из локальной базы данных</a:t>
            </a:r>
            <a:r>
              <a:rPr lang="en-US" sz="8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4D1726E-4BF3-A291-0E3D-AE00778EA435}"/>
              </a:ext>
            </a:extLst>
          </p:cNvPr>
          <p:cNvSpPr/>
          <p:nvPr/>
        </p:nvSpPr>
        <p:spPr>
          <a:xfrm>
            <a:off x="494146" y="1449911"/>
            <a:ext cx="3757814" cy="1285507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3A179E-244F-007D-E097-16A49BA7AE26}"/>
              </a:ext>
            </a:extLst>
          </p:cNvPr>
          <p:cNvSpPr/>
          <p:nvPr/>
        </p:nvSpPr>
        <p:spPr>
          <a:xfrm>
            <a:off x="4892040" y="1449910"/>
            <a:ext cx="3757814" cy="1285507"/>
          </a:xfrm>
          <a:prstGeom prst="roundRect">
            <a:avLst/>
          </a:prstGeom>
          <a:solidFill>
            <a:srgbClr val="2A4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130FDD3-9B4E-4D6A-097D-3B712DB1C475}"/>
              </a:ext>
            </a:extLst>
          </p:cNvPr>
          <p:cNvSpPr/>
          <p:nvPr/>
        </p:nvSpPr>
        <p:spPr>
          <a:xfrm>
            <a:off x="494146" y="3144760"/>
            <a:ext cx="3757814" cy="1285507"/>
          </a:xfrm>
          <a:prstGeom prst="roundRect">
            <a:avLst/>
          </a:prstGeom>
          <a:solidFill>
            <a:srgbClr val="3A4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89C3863-6DE1-A0E8-552B-CC172BE4468A}"/>
              </a:ext>
            </a:extLst>
          </p:cNvPr>
          <p:cNvSpPr/>
          <p:nvPr/>
        </p:nvSpPr>
        <p:spPr>
          <a:xfrm>
            <a:off x="4892040" y="3144758"/>
            <a:ext cx="3757814" cy="1285507"/>
          </a:xfrm>
          <a:prstGeom prst="roundRect">
            <a:avLst/>
          </a:prstGeom>
          <a:solidFill>
            <a:srgbClr val="4F5A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26" name="Image 9" descr="preencoded.png">
            <a:extLst>
              <a:ext uri="{FF2B5EF4-FFF2-40B4-BE49-F238E27FC236}">
                <a16:creationId xmlns:a16="http://schemas.microsoft.com/office/drawing/2014/main" id="{38376684-E652-CBA4-8F3E-2FF69E06D9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744" y="3312378"/>
            <a:ext cx="330750" cy="378000"/>
          </a:xfrm>
          <a:prstGeom prst="rect">
            <a:avLst/>
          </a:prstGeom>
        </p:spPr>
      </p:pic>
      <p:pic>
        <p:nvPicPr>
          <p:cNvPr id="27" name="Image 7" descr="preencoded.png">
            <a:extLst>
              <a:ext uri="{FF2B5EF4-FFF2-40B4-BE49-F238E27FC236}">
                <a16:creationId xmlns:a16="http://schemas.microsoft.com/office/drawing/2014/main" id="{AB99F2C0-3E82-FACB-F350-92E2CA6CB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47" y="3297161"/>
            <a:ext cx="378000" cy="378000"/>
          </a:xfrm>
          <a:prstGeom prst="rect">
            <a:avLst/>
          </a:prstGeom>
        </p:spPr>
      </p:pic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7F50522B-8F37-F5E7-4AD9-CA30E8325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672" y="1583091"/>
            <a:ext cx="378000" cy="378000"/>
          </a:xfrm>
          <a:prstGeom prst="rect">
            <a:avLst/>
          </a:prstGeom>
        </p:spPr>
      </p:pic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2A8303C3-E8A7-D08A-26DE-82CAFBDA3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82" y="1583091"/>
            <a:ext cx="378000" cy="378000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026FDB-F45E-BF97-5674-4FF861294752}"/>
              </a:ext>
            </a:extLst>
          </p:cNvPr>
          <p:cNvSpPr/>
          <p:nvPr/>
        </p:nvSpPr>
        <p:spPr>
          <a:xfrm>
            <a:off x="1080574" y="1449909"/>
            <a:ext cx="3167359" cy="1285507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публичным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8.8.8.8 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возвращает реальные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 Cloudflare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104.16.133.229, 104.16.132.229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локальный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Unbound (127.0.0.1:2053)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возвращает</a:t>
            </a:r>
            <a:b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192.0.2.1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5E5968A-9090-11AD-4535-7888D8192258}"/>
              </a:ext>
            </a:extLst>
          </p:cNvPr>
          <p:cNvSpPr/>
          <p:nvPr/>
        </p:nvSpPr>
        <p:spPr>
          <a:xfrm>
            <a:off x="5486521" y="1449908"/>
            <a:ext cx="3167360" cy="1285507"/>
          </a:xfrm>
          <a:prstGeom prst="roundRect">
            <a:avLst/>
          </a:prstGeom>
          <a:solidFill>
            <a:srgbClr val="2A4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Проверка поддомена и отсутствующего имени</a:t>
            </a:r>
          </a:p>
          <a:p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www.cloudflare.com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192.0.2.2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hack.cloudflare.com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NXDOMAIN 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за 1 мс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001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2A5C73B-1E54-6F19-99C8-2C3EA6E23E6B}"/>
              </a:ext>
            </a:extLst>
          </p:cNvPr>
          <p:cNvSpPr/>
          <p:nvPr/>
        </p:nvSpPr>
        <p:spPr>
          <a:xfrm>
            <a:off x="1078344" y="3144758"/>
            <a:ext cx="3174044" cy="1285507"/>
          </a:xfrm>
          <a:prstGeom prst="roundRect">
            <a:avLst/>
          </a:prstGeom>
          <a:solidFill>
            <a:srgbClr val="3A4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Анализ трафика (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tcpdump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видна только пара пакетов:</a:t>
            </a:r>
          </a:p>
          <a:p>
            <a:b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клиент → </a:t>
            </a:r>
            <a:r>
              <a:rPr lang="ru-RU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резолвер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 → клиент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- внешних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DNS-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запросов нет</a:t>
            </a:r>
          </a:p>
          <a:p>
            <a:pPr algn="ctr"/>
            <a:endParaRPr lang="en-001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A5DACD0-9DCB-8CED-2CFC-0C6DCAAE1F73}"/>
              </a:ext>
            </a:extLst>
          </p:cNvPr>
          <p:cNvSpPr/>
          <p:nvPr/>
        </p:nvSpPr>
        <p:spPr>
          <a:xfrm>
            <a:off x="5486520" y="3144758"/>
            <a:ext cx="3163333" cy="1285507"/>
          </a:xfrm>
          <a:prstGeom prst="roundRect">
            <a:avLst/>
          </a:prstGeom>
          <a:solidFill>
            <a:srgbClr val="4F5A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Логи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Unbound</a:t>
            </a:r>
            <a:endParaRPr lang="ru-RU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docker compose logs unbound | grep -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cloudflare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→ 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пустой вывод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- записей 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resolving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cloudflare.com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342479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7F4E81-1103-D5DE-E665-B96B52D40752}"/>
              </a:ext>
            </a:extLst>
          </p:cNvPr>
          <p:cNvSpPr/>
          <p:nvPr/>
        </p:nvSpPr>
        <p:spPr>
          <a:xfrm>
            <a:off x="338328" y="3986784"/>
            <a:ext cx="3026664" cy="847036"/>
          </a:xfrm>
          <a:prstGeom prst="roundRect">
            <a:avLst/>
          </a:prstGeom>
          <a:solidFill>
            <a:srgbClr val="37AE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001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0061EB-27A3-9F9A-4B90-0B8191AE37E5}"/>
              </a:ext>
            </a:extLst>
          </p:cNvPr>
          <p:cNvSpPr/>
          <p:nvPr/>
        </p:nvSpPr>
        <p:spPr>
          <a:xfrm>
            <a:off x="5952744" y="1563623"/>
            <a:ext cx="2852928" cy="3270197"/>
          </a:xfrm>
          <a:prstGeom prst="round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" name="Text 0"/>
          <p:cNvSpPr txBox="1"/>
          <p:nvPr/>
        </p:nvSpPr>
        <p:spPr>
          <a:xfrm>
            <a:off x="338328" y="2315250"/>
            <a:ext cx="4625194" cy="5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
</a:t>
            </a:r>
            <a:endParaRPr lang="en-US" sz="3300" dirty="0"/>
          </a:p>
        </p:txBody>
      </p:sp>
      <p:sp>
        <p:nvSpPr>
          <p:cNvPr id="5" name="Text 1"/>
          <p:cNvSpPr txBox="1"/>
          <p:nvPr/>
        </p:nvSpPr>
        <p:spPr>
          <a:xfrm>
            <a:off x="6284713" y="1868656"/>
            <a:ext cx="21839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
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A75C05-D3BB-1784-6067-462B1A28C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422" y="2445723"/>
            <a:ext cx="1960550" cy="196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D5EA31-2D03-A54D-DB34-F7A7DF265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50" y="3985920"/>
            <a:ext cx="812146" cy="81214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A739541-B0C3-E799-61C0-914EF5240319}"/>
              </a:ext>
            </a:extLst>
          </p:cNvPr>
          <p:cNvSpPr/>
          <p:nvPr/>
        </p:nvSpPr>
        <p:spPr>
          <a:xfrm>
            <a:off x="1225296" y="3986784"/>
            <a:ext cx="2139696" cy="847036"/>
          </a:xfrm>
          <a:prstGeom prst="roundRect">
            <a:avLst/>
          </a:prstGeom>
          <a:solidFill>
            <a:srgbClr val="37AE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Написать авторам</a:t>
            </a:r>
          </a:p>
          <a:p>
            <a:pPr algn="ctr"/>
            <a:r>
              <a:rPr lang="en-001" sz="1200" dirty="0">
                <a:latin typeface="Arial" panose="020B0604020202020204" pitchFamily="34" charset="0"/>
                <a:cs typeface="Arial" panose="020B0604020202020204" pitchFamily="34" charset="0"/>
              </a:rPr>
              <a:t>@samoilov_ma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@Ch_alex777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magelatova</a:t>
            </a:r>
            <a:endParaRPr lang="en-001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c9b6f6a-202d-4582-a023-9a8a93af0d5c" id="{517E0BF7-A7E3-394A-8B1E-885FEB2418EF}" vid="{43372706-0110-9A44-AFFC-D9607487FD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1146</Words>
  <Application>Microsoft Macintosh PowerPoint</Application>
  <PresentationFormat>On-screen Show (16:9)</PresentationFormat>
  <Paragraphs>214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Mikhail Samoilov</cp:lastModifiedBy>
  <cp:revision>3</cp:revision>
  <dcterms:created xsi:type="dcterms:W3CDTF">2026-04-07T16:03:44Z</dcterms:created>
  <dcterms:modified xsi:type="dcterms:W3CDTF">2026-04-08T00:11:19Z</dcterms:modified>
</cp:coreProperties>
</file>